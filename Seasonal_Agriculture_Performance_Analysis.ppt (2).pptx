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7" r:id="rId26"/>
    <p:sldId id="348" r:id="rId27"/>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 Id="rId26" Type="http://schemas.openxmlformats.org/officeDocument/2006/relationships/slide" Target="slides/slide11.xml"/><Relationship Id="rId27"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0.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2.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4.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6.png"/><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8364" y="3579000"/>
            <a:ext cx="4998720" cy="780000"/>
          </a:xfrm>
        </p:spPr>
        <p:txBody>
          <a:bodyPr vert="horz" lIns="45720" tIns="45720" rIns="45720" bIns="45720" rtlCol="0" anchor="t" wrap="square">
            <a:normAutofit/>
          </a:bodyPr>
          <a:lstStyle/>
          <a:p>
            <a:pPr algn="l"/>
            <a:r>
              <a:rPr sz="2000">
                <a:latin typeface="Trebuchet MS"/>
              </a:rPr>
              <a:t>Roobika Rangaraj</a:t>
            </a:r>
          </a:p>
          <a:p>
            <a:pPr algn="l"/>
            <a:r>
              <a:rPr sz="2000">
                <a:latin typeface="Trebuchet MS"/>
              </a:rPr>
              <a:t>Jai Shriram Engineering College</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pPr algn="l"/>
            <a:r>
              <a:rPr sz="2500" lang="en-US">
                <a:latin typeface="Trebuchet MS"/>
              </a:rPr>
              <a:t>Project Title - 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8364" y="4572000"/>
            <a:ext cx="4998720" cy="700000"/>
          </a:xfrm>
          <a:prstGeom prst="rect">
            <a:avLst/>
          </a:prstGeom>
          <a:noFill/>
        </p:spPr>
        <p:txBody>
          <a:bodyPr wrap="square" rtlCol="0">
            <a:spAutoFit/>
          </a:bodyPr>
          <a:lstStyle/>
          <a:p>
            <a:pPr algn="l"/>
            <a:r>
              <a:rPr sz="1500" b="1" lang="en-US">
                <a:latin typeface="Trebuchet MS"/>
              </a:rPr>
              <a:t>AICTE STU ID : STU6a6b0fac485711785401260</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941832" y="1719072"/>
            <a:ext cx="6748272" cy="3913632"/>
          </a:xfrm>
        </p:spPr>
        <p:txBody>
          <a:bodyPr vert="horz" lIns="63500" tIns="38100" rIns="63500" bIns="38100" rtlCol="0" anchor="t" wrap="square">
            <a:normAutofit fontScale="70000" lnSpcReduction="20000"/>
          </a:bodyPr>
          <a:lstStyle/>
          <a:p>
            <a:pPr algn="just">
              <a:lnSpc>
                <a:spcPct val="100000"/>
              </a:lnSpc>
            </a:pPr>
            <a:r>
              <a:rPr sz="1800" b="0">
                <a:latin typeface="Trebuchet MS"/>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sz="3200" b="1">
                <a:latin typeface="Trebuchet MS"/>
              </a:rPr>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58368" y="749808"/>
            <a:ext cx="7452360" cy="4160520"/>
          </a:xfrm>
        </p:spPr>
        <p:txBody>
          <a:bodyPr wrap="square" anchor="t" lIns="25400" rIns="25400">
            <a:normAutofit fontScale="90000"/>
          </a:bodyPr>
          <a:lstStyle/>
          <a:p>
            <a:pPr algn="l"/>
            <a:r>
              <a:rPr sz="2600" b="1" lang="en-US">
                <a:latin typeface="Trebuchet MS"/>
              </a:rPr>
              <a:t>Project Description</a:t>
            </a:r>
          </a:p>
          <a:p>
            <a:pPr algn="just">
              <a:spcBef>
                <a:spcPts val="1000"/>
              </a:spcBef>
            </a:pPr>
            <a:r>
              <a:rPr sz="1800" b="0" lang="en-US">
                <a:latin typeface="Trebuchet MS"/>
              </a:rPr>
              <a:t>Cleaned and explored the agricultural dataset using Python and Pandas. Compared Kharif, Rabi and Zaid seasons using yield, production, revenue, cost and profit.</a:t>
            </a:r>
          </a:p>
          <a:p>
            <a:pPr algn="just">
              <a:spcBef>
                <a:spcPts val="1200"/>
              </a:spcBef>
            </a:pPr>
            <a:r>
              <a:rPr sz="1800" b="0" lang="en-US">
                <a:latin typeface="Trebuchet MS"/>
              </a:rPr>
              <a:t>Environmental and resource variables such as rainfall, temperature, humidity, soil moisture, fertilizer, pesticide and water usage were also analyzed.</a:t>
            </a:r>
          </a:p>
          <a:p>
            <a:pPr algn="just">
              <a:spcBef>
                <a:spcPts val="1200"/>
              </a:spcBef>
            </a:pPr>
            <a:r>
              <a:rPr sz="1800" b="0" lang="en-US">
                <a:latin typeface="Trebuchet MS"/>
              </a:rPr>
              <a:t>Statistical analysis, correlation analysis and student-designed comparisons were used to identify meaningful seasonal patterns and support recommendations.</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l"/>
            <a:r>
              <a:rPr sz="1700" lang="en-US">
                <a:latin typeface="Trebuchet MS"/>
              </a:rPr>
              <a:t>Farmers – seasonal crop selection and resource planning.</a:t>
            </a:r>
          </a:p>
          <a:p/>
          <a:p>
            <a:pPr algn="l"/>
            <a:r>
              <a:rPr sz="1700" lang="en-US">
                <a:latin typeface="Trebuchet MS"/>
              </a:rPr>
              <a:t>Agricultural planners – seasonal resource allocation and performance monitoring.</a:t>
            </a:r>
          </a:p>
          <a:p/>
          <a:p>
            <a:pPr algn="l"/>
            <a:r>
              <a:rPr sz="1700" lang="en-US">
                <a:latin typeface="Trebuchet MS"/>
              </a:rPr>
              <a:t>Agribusiness teams – production, profitability and crop planning.</a:t>
            </a:r>
          </a:p>
          <a:p/>
          <a:p>
            <a:pPr algn="l"/>
            <a:r>
              <a:rPr sz="1700" lang="en-US">
                <a:latin typeface="Trebuchet MS"/>
              </a:rPr>
              <a:t>Researchers / students – understanding relationships between climate, resources and agricultural performance.</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b="1">
                <a:latin typeface="Trebuchet MS"/>
              </a:rPr>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8458200" y="4160520"/>
            <a:ext cx="1097280" cy="1645920"/>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8458200" y="4160520"/>
            <a:ext cx="1097280" cy="1645920"/>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algn="l"/>
            <a:r>
              <a:rPr sz="1800" lang="en-US">
                <a:latin typeface="Trebuchet MS"/>
              </a:rPr>
              <a:t>Python</a:t>
            </a:r>
          </a:p>
          <a:p>
            <a:pPr algn="l"/>
            <a:r>
              <a:rPr sz="1800" lang="en-US">
                <a:latin typeface="Trebuchet MS"/>
              </a:rPr>
              <a:t>Google Colab</a:t>
            </a:r>
          </a:p>
          <a:p>
            <a:pPr algn="l"/>
            <a:r>
              <a:rPr sz="1800" lang="en-US">
                <a:latin typeface="Trebuchet MS"/>
              </a:rPr>
              <a:t>Pandas &amp; NumPy</a:t>
            </a:r>
          </a:p>
          <a:p>
            <a:pPr algn="l"/>
            <a:r>
              <a:rPr sz="1800" lang="en-US">
                <a:latin typeface="Trebuchet MS"/>
              </a:rPr>
              <a:t>Matplotlib &amp; Seaborn</a:t>
            </a:r>
          </a:p>
          <a:p>
            <a:pPr algn="l"/>
            <a:r>
              <a:rPr sz="1800" lang="en-US">
                <a:latin typeface="Trebuchet MS"/>
              </a:rPr>
              <a:t>SciPy for statistical analysis</a:t>
            </a:r>
          </a:p>
          <a:p>
            <a:pPr algn="l"/>
            <a:r>
              <a:rPr sz="1800" lang="en-US">
                <a:latin typeface="Trebuchet MS"/>
              </a:rPr>
              <a:t>GitHub for version sharing</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sz="3200" b="1">
                <a:latin typeface="Trebuchet MS"/>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pPr algn="l"/>
            <a:r>
              <a:rPr sz="2200" b="1" lang="en-US">
                <a:latin typeface="Trebuchet MS"/>
              </a:rPr>
              <a:t>RESULTS – Seasonal Performance</a:t>
            </a: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100" b="1" lang="en-US">
                <a:solidFill>
                  <a:srgbClr val="000000"/>
                </a:solidFill>
                <a:latin typeface="Trebuchet MS"/>
              </a:rPr>
              <a:t>Average Yield by Season</a:t>
            </a: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100" b="1" lang="en-US">
                <a:solidFill>
                  <a:srgbClr val="000000"/>
                </a:solidFill>
                <a:latin typeface="Trebuchet MS"/>
              </a:rPr>
              <a:t>Average Production by Season</a:t>
            </a:r>
          </a:p>
        </p:txBody>
      </p:sp>
      <p:pic>
        <p:nvPicPr>
          <p:cNvPr id="24" name="Picture 23" descr="yield.png"/>
          <p:cNvPicPr>
            <a:picLocks noChangeAspect="1"/>
          </p:cNvPicPr>
          <p:nvPr/>
        </p:nvPicPr>
        <p:blipFill>
          <a:blip r:embed="rId3"/>
          <a:stretch>
            <a:fillRect/>
          </a:stretch>
        </p:blipFill>
        <p:spPr>
          <a:xfrm>
            <a:off x="411480" y="1874519"/>
            <a:ext cx="3703320" cy="4069080"/>
          </a:xfrm>
          <a:prstGeom prst="rect">
            <a:avLst/>
          </a:prstGeom>
        </p:spPr>
      </p:pic>
      <p:pic>
        <p:nvPicPr>
          <p:cNvPr id="25" name="Picture 24" descr="production.png"/>
          <p:cNvPicPr>
            <a:picLocks noChangeAspect="1"/>
          </p:cNvPicPr>
          <p:nvPr/>
        </p:nvPicPr>
        <p:blipFill>
          <a:blip r:embed="rId4"/>
          <a:stretch>
            <a:fillRect/>
          </a:stretch>
        </p:blipFill>
        <p:spPr>
          <a:xfrm>
            <a:off x="4251960" y="1874519"/>
            <a:ext cx="3703320" cy="406908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pPr algn="l"/>
            <a:r>
              <a:rPr sz="2200" b="1" lang="en-US">
                <a:latin typeface="Trebuchet MS"/>
              </a:rPr>
              <a:t>RESULTS – Profitability &amp; Rainfall</a:t>
            </a: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100" b="1" lang="en-US">
                <a:solidFill>
                  <a:srgbClr val="000000"/>
                </a:solidFill>
                <a:latin typeface="Trebuchet MS"/>
              </a:rPr>
              <a:t>Average Profit by Season</a:t>
            </a:r>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100" b="1" lang="en-US">
                <a:solidFill>
                  <a:srgbClr val="000000"/>
                </a:solidFill>
                <a:latin typeface="Trebuchet MS"/>
              </a:rPr>
              <a:t>Average Rainfall by Season</a:t>
            </a:r>
          </a:p>
        </p:txBody>
      </p:sp>
      <p:pic>
        <p:nvPicPr>
          <p:cNvPr id="31" name="Picture 30" descr="profit.png"/>
          <p:cNvPicPr>
            <a:picLocks noChangeAspect="1"/>
          </p:cNvPicPr>
          <p:nvPr/>
        </p:nvPicPr>
        <p:blipFill>
          <a:blip r:embed="rId3"/>
          <a:stretch>
            <a:fillRect/>
          </a:stretch>
        </p:blipFill>
        <p:spPr>
          <a:xfrm>
            <a:off x="411480" y="1874519"/>
            <a:ext cx="3703320" cy="4069080"/>
          </a:xfrm>
          <a:prstGeom prst="rect">
            <a:avLst/>
          </a:prstGeom>
        </p:spPr>
      </p:pic>
      <p:pic>
        <p:nvPicPr>
          <p:cNvPr id="32" name="Picture 31" descr="rainfall.png"/>
          <p:cNvPicPr>
            <a:picLocks noChangeAspect="1"/>
          </p:cNvPicPr>
          <p:nvPr/>
        </p:nvPicPr>
        <p:blipFill>
          <a:blip r:embed="rId4"/>
          <a:stretch>
            <a:fillRect/>
          </a:stretch>
        </p:blipFill>
        <p:spPr>
          <a:xfrm>
            <a:off x="4251960" y="1874519"/>
            <a:ext cx="3703320" cy="406908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pPr algn="l"/>
            <a:r>
              <a:rPr sz="2200" b="1" lang="en-US">
                <a:latin typeface="Trebuchet MS"/>
              </a:rPr>
              <a:t>RESULTS – Resource Usage</a:t>
            </a: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100" b="1" lang="en-US">
                <a:solidFill>
                  <a:srgbClr val="000000"/>
                </a:solidFill>
                <a:latin typeface="Trebuchet MS"/>
              </a:rPr>
              <a:t>Average Water Usage by Season</a:t>
            </a:r>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100" b="1" lang="en-US">
                <a:solidFill>
                  <a:srgbClr val="000000"/>
                </a:solidFill>
                <a:latin typeface="Trebuchet MS"/>
              </a:rPr>
              <a:t>Average Fertilizer Usage by Season</a:t>
            </a:r>
          </a:p>
        </p:txBody>
      </p:sp>
      <p:pic>
        <p:nvPicPr>
          <p:cNvPr id="31" name="Picture 30" descr="water.png"/>
          <p:cNvPicPr>
            <a:picLocks noChangeAspect="1"/>
          </p:cNvPicPr>
          <p:nvPr/>
        </p:nvPicPr>
        <p:blipFill>
          <a:blip r:embed="rId3"/>
          <a:stretch>
            <a:fillRect/>
          </a:stretch>
        </p:blipFill>
        <p:spPr>
          <a:xfrm>
            <a:off x="411480" y="1874519"/>
            <a:ext cx="3703320" cy="4069080"/>
          </a:xfrm>
          <a:prstGeom prst="rect">
            <a:avLst/>
          </a:prstGeom>
        </p:spPr>
      </p:pic>
      <p:pic>
        <p:nvPicPr>
          <p:cNvPr id="32" name="Picture 31" descr="fertilizer.png"/>
          <p:cNvPicPr>
            <a:picLocks noChangeAspect="1"/>
          </p:cNvPicPr>
          <p:nvPr/>
        </p:nvPicPr>
        <p:blipFill>
          <a:blip r:embed="rId4"/>
          <a:stretch>
            <a:fillRect/>
          </a:stretch>
        </p:blipFill>
        <p:spPr>
          <a:xfrm>
            <a:off x="4251960" y="1874519"/>
            <a:ext cx="3703320" cy="406908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pPr algn="l"/>
            <a:r>
              <a:rPr sz="2200" b="1" lang="en-US">
                <a:latin typeface="Trebuchet MS"/>
              </a:rPr>
              <a:t>RESULTS – Crop × Season Analysis</a:t>
            </a: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100" b="1" lang="en-US">
                <a:solidFill>
                  <a:srgbClr val="000000"/>
                </a:solidFill>
                <a:latin typeface="Trebuchet MS"/>
              </a:rPr>
              <a:t>Crop × Season Average Yield</a:t>
            </a:r>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100" b="1" lang="en-US">
                <a:solidFill>
                  <a:srgbClr val="000000"/>
                </a:solidFill>
                <a:latin typeface="Trebuchet MS"/>
              </a:rPr>
              <a:t>Best Crop by Season</a:t>
            </a:r>
          </a:p>
        </p:txBody>
      </p:sp>
      <p:pic>
        <p:nvPicPr>
          <p:cNvPr id="31" name="Picture 30" descr="crop_heatmap.png"/>
          <p:cNvPicPr>
            <a:picLocks noChangeAspect="1"/>
          </p:cNvPicPr>
          <p:nvPr/>
        </p:nvPicPr>
        <p:blipFill>
          <a:blip r:embed="rId3"/>
          <a:stretch>
            <a:fillRect/>
          </a:stretch>
        </p:blipFill>
        <p:spPr>
          <a:xfrm>
            <a:off x="411480" y="1874519"/>
            <a:ext cx="3703320" cy="4069080"/>
          </a:xfrm>
          <a:prstGeom prst="rect">
            <a:avLst/>
          </a:prstGeom>
        </p:spPr>
      </p:pic>
      <p:pic>
        <p:nvPicPr>
          <p:cNvPr id="32" name="Picture 31" descr="best_crop.png"/>
          <p:cNvPicPr>
            <a:picLocks noChangeAspect="1"/>
          </p:cNvPicPr>
          <p:nvPr/>
        </p:nvPicPr>
        <p:blipFill>
          <a:blip r:embed="rId4"/>
          <a:stretch>
            <a:fillRect/>
          </a:stretch>
        </p:blipFill>
        <p:spPr>
          <a:xfrm>
            <a:off x="4251960" y="1874519"/>
            <a:ext cx="3703320" cy="406908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pPr algn="l"/>
            <a:r>
              <a:rPr sz="2200" b="1" lang="en-US">
                <a:latin typeface="Trebuchet MS"/>
              </a:rPr>
              <a:t>RESULTS – State × Season Analysis</a:t>
            </a: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100" b="1" lang="en-US">
                <a:solidFill>
                  <a:srgbClr val="000000"/>
                </a:solidFill>
                <a:latin typeface="Trebuchet MS"/>
              </a:rPr>
              <a:t>State × Season Average Yield</a:t>
            </a:r>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100" b="1" lang="en-US">
                <a:solidFill>
                  <a:srgbClr val="000000"/>
                </a:solidFill>
                <a:latin typeface="Trebuchet MS"/>
              </a:rPr>
              <a:t>Best State by Season</a:t>
            </a:r>
          </a:p>
        </p:txBody>
      </p:sp>
      <p:pic>
        <p:nvPicPr>
          <p:cNvPr id="31" name="Picture 30" descr="state_heatmap.png"/>
          <p:cNvPicPr>
            <a:picLocks noChangeAspect="1"/>
          </p:cNvPicPr>
          <p:nvPr/>
        </p:nvPicPr>
        <p:blipFill>
          <a:blip r:embed="rId3"/>
          <a:stretch>
            <a:fillRect/>
          </a:stretch>
        </p:blipFill>
        <p:spPr>
          <a:xfrm>
            <a:off x="411480" y="1874519"/>
            <a:ext cx="3703320" cy="4069080"/>
          </a:xfrm>
          <a:prstGeom prst="rect">
            <a:avLst/>
          </a:prstGeom>
        </p:spPr>
      </p:pic>
      <p:pic>
        <p:nvPicPr>
          <p:cNvPr id="32" name="Picture 31" descr="best_state.png"/>
          <p:cNvPicPr>
            <a:picLocks noChangeAspect="1"/>
          </p:cNvPicPr>
          <p:nvPr/>
        </p:nvPicPr>
        <p:blipFill>
          <a:blip r:embed="rId4"/>
          <a:stretch>
            <a:fillRect/>
          </a:stretch>
        </p:blipFill>
        <p:spPr>
          <a:xfrm>
            <a:off x="4251960" y="1874519"/>
            <a:ext cx="3703320" cy="406908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pPr algn="l"/>
            <a:r>
              <a:rPr sz="2200" b="1" lang="en-US">
                <a:latin typeface="Trebuchet MS"/>
              </a:rPr>
              <a:t>RESULTS – Correlation &amp; Student Analysis</a:t>
            </a: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100" b="1" lang="en-US">
                <a:solidFill>
                  <a:srgbClr val="000000"/>
                </a:solidFill>
                <a:latin typeface="Trebuchet MS"/>
              </a:rPr>
              <a:t>Correlation Matrix of Key Variables</a:t>
            </a:r>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100" b="1" lang="en-US">
                <a:solidFill>
                  <a:srgbClr val="000000"/>
                </a:solidFill>
                <a:latin typeface="Trebuchet MS"/>
              </a:rPr>
              <a:t>Water Usage vs Yield</a:t>
            </a:r>
          </a:p>
        </p:txBody>
      </p:sp>
      <p:pic>
        <p:nvPicPr>
          <p:cNvPr id="9" name="Picture 8" descr="correlation.png"/>
          <p:cNvPicPr>
            <a:picLocks noChangeAspect="1"/>
          </p:cNvPicPr>
          <p:nvPr/>
        </p:nvPicPr>
        <p:blipFill>
          <a:blip r:embed="rId2"/>
          <a:stretch>
            <a:fillRect/>
          </a:stretch>
        </p:blipFill>
        <p:spPr>
          <a:xfrm>
            <a:off x="411480" y="1874519"/>
            <a:ext cx="3703320" cy="4069080"/>
          </a:xfrm>
          <a:prstGeom prst="rect">
            <a:avLst/>
          </a:prstGeom>
        </p:spPr>
      </p:pic>
      <p:pic>
        <p:nvPicPr>
          <p:cNvPr id="10" name="Picture 9" descr="water_yield.png"/>
          <p:cNvPicPr>
            <a:picLocks noChangeAspect="1"/>
          </p:cNvPicPr>
          <p:nvPr/>
        </p:nvPicPr>
        <p:blipFill>
          <a:blip r:embed="rId3"/>
          <a:stretch>
            <a:fillRect/>
          </a:stretch>
        </p:blipFill>
        <p:spPr>
          <a:xfrm>
            <a:off x="4251960" y="1874519"/>
            <a:ext cx="3703320" cy="40690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pPr algn="l"/>
            <a:r>
              <a:rPr sz="2200" b="1" lang="en-US">
                <a:latin typeface="Trebuchet MS"/>
              </a:rPr>
              <a:t>RESULTS – Statistical Analysis</a:t>
            </a: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100" b="1" lang="en-US">
                <a:solidFill>
                  <a:srgbClr val="000000"/>
                </a:solidFill>
                <a:latin typeface="Trebuchet MS"/>
              </a:rPr>
              <a:t>Yield Distribution by Season</a:t>
            </a:r>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100" b="1" lang="en-US">
                <a:solidFill>
                  <a:srgbClr val="000000"/>
                </a:solidFill>
                <a:latin typeface="Trebuchet MS"/>
              </a:rPr>
              <a:t>ANOVA Result</a:t>
            </a:r>
          </a:p>
        </p:txBody>
      </p:sp>
      <p:pic>
        <p:nvPicPr>
          <p:cNvPr id="9" name="Picture 8" descr="anova_boxplot.png"/>
          <p:cNvPicPr>
            <a:picLocks noChangeAspect="1"/>
          </p:cNvPicPr>
          <p:nvPr/>
        </p:nvPicPr>
        <p:blipFill>
          <a:blip r:embed="rId2"/>
          <a:stretch>
            <a:fillRect/>
          </a:stretch>
        </p:blipFill>
        <p:spPr>
          <a:xfrm>
            <a:off x="411480" y="1874519"/>
            <a:ext cx="3703320" cy="4069080"/>
          </a:xfrm>
          <a:prstGeom prst="rect">
            <a:avLst/>
          </a:prstGeom>
        </p:spPr>
      </p:pic>
      <p:sp>
        <p:nvSpPr>
          <p:cNvPr id="10" name="TextBox 9"/>
          <p:cNvSpPr txBox="1"/>
          <p:nvPr/>
        </p:nvSpPr>
        <p:spPr>
          <a:xfrm>
            <a:off x="4343400" y="1874519"/>
            <a:ext cx="3383280" cy="3931920"/>
          </a:xfrm>
          <a:prstGeom prst="rect">
            <a:avLst/>
          </a:prstGeom>
          <a:noFill/>
        </p:spPr>
        <p:txBody>
          <a:bodyPr wrap="square" lIns="50800" rIns="50800" tIns="50800" bIns="50800">
            <a:spAutoFit/>
          </a:bodyPr>
          <a:lstStyle/>
          <a:p>
            <a:pPr algn="l">
              <a:defRPr sz="1400"/>
            </a:pPr>
            <a:r>
              <a:rPr lang="en-US" sz="1500">
                <a:latin typeface="Trebuchet MS"/>
              </a:rPr>
              <a:t>One-way ANOVA on yield across Kharif, Rabi and Zaid:</a:t>
            </a:r>
            <a:br/>
            <a:br/>
            <a:r>
              <a:rPr lang="en-US" sz="1500">
                <a:latin typeface="Trebuchet MS"/>
              </a:rPr>
              <a:t>F-statistic = 1.458</a:t>
            </a:r>
            <a:br/>
            <a:r>
              <a:rPr lang="en-US" sz="1500">
                <a:latin typeface="Trebuchet MS"/>
              </a:rPr>
              <a:t>p-value = 0.233</a:t>
            </a:r>
            <a:br/>
            <a:br/>
            <a:r>
              <a:rPr lang="en-US" sz="1500">
                <a:latin typeface="Trebuchet MS"/>
              </a:rPr>
              <a:t>At the 5% significance level, the seasonal yield differences are not statistically significant based on this test.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sz="1500" b="0" lang="en-US">
                <a:latin typeface="Trebuchet MS"/>
              </a:rPr>
              <a:t>Recommendations &amp; 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353312"/>
            <a:ext cx="3343561" cy="43434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lang="en-US" b="0">
                <a:latin typeface="Trebuchet MS"/>
              </a:rPr>
              <a:t>Recommendations</a:t>
            </a:r>
          </a:p>
          <a:p>
            <a:r>
              <a:rPr sz="1500" lang="en-US" b="0">
                <a:latin typeface="Trebuchet MS"/>
              </a:rPr>
              <a:t>• Use crop–season performance when planning crop selection.</a:t>
            </a:r>
          </a:p>
          <a:p>
            <a:r>
              <a:rPr sz="1500" lang="en-US" b="0">
                <a:latin typeface="Trebuchet MS"/>
              </a:rPr>
              <a:t>• Plan irrigation using rainfall and soil-moisture patterns.</a:t>
            </a:r>
          </a:p>
          <a:p>
            <a:r>
              <a:rPr sz="1500" lang="en-US" b="0">
                <a:latin typeface="Trebuchet MS"/>
              </a:rPr>
              <a:t>• Monitor water use because higher water use does not automatically mean higher yield.</a:t>
            </a:r>
          </a:p>
          <a:p>
            <a:r>
              <a:rPr sz="1500" lang="en-US" b="0">
                <a:latin typeface="Trebuchet MS"/>
              </a:rPr>
              <a:t>• Focus on seasonal profitability, not yield alone.</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353312"/>
            <a:ext cx="3343561" cy="43434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lang="en-US" b="0">
                <a:latin typeface="Trebuchet MS"/>
              </a:rPr>
              <a:t>Future Scope</a:t>
            </a:r>
          </a:p>
          <a:p>
            <a:r>
              <a:rPr sz="1500" lang="en-US" b="0">
                <a:latin typeface="Trebuchet MS"/>
              </a:rPr>
              <a:t>• Add multi-year data to study long-term seasonal trends.</a:t>
            </a:r>
          </a:p>
          <a:p>
            <a:r>
              <a:rPr sz="1500" lang="en-US" b="0">
                <a:latin typeface="Trebuchet MS"/>
              </a:rPr>
              <a:t>• Include market price and demand variables.</a:t>
            </a:r>
          </a:p>
          <a:p>
            <a:r>
              <a:rPr sz="1500" lang="en-US" b="0">
                <a:latin typeface="Trebuchet MS"/>
              </a:rPr>
              <a:t>• Add more locations and crop varieties.</a:t>
            </a:r>
          </a:p>
          <a:p>
            <a:r>
              <a:rPr sz="1500" lang="en-US" b="0">
                <a:latin typeface="Trebuchet MS"/>
              </a:rPr>
              <a:t>• Build an interactive dashboard for decision support.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US" sz="1400">
                <a:latin typeface="Trebuchet MS"/>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sz="1400" lang="en-US">
                <a:latin typeface="Trebuchet MS"/>
              </a:rPr>
              <a:t>https://github.com/roobi2003/Seasonal_Agriculture_Performance_Analysis.ipynb/tree/main</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sz="1400" b="1" lang="en-US">
                <a:latin typeface="Trebuchet MS"/>
              </a:rPr>
              <a:t>VOIS Course Completion Certificate</a:t>
            </a:r>
          </a:p>
          <a:p>
            <a:r>
              <a:rPr sz="1400" b="1" lang="en-US">
                <a:latin typeface="Trebuchet MS"/>
              </a:rPr>
              <a:t>Course Name - Data Visualization</a:t>
            </a:r>
          </a:p>
        </p:txBody>
      </p:sp>
      <p:pic>
        <p:nvPicPr>
          <p:cNvPr id="24" name="Picture 23" descr="certificate.png"/>
          <p:cNvPicPr>
            <a:picLocks noChangeAspect="1"/>
          </p:cNvPicPr>
          <p:nvPr/>
        </p:nvPicPr>
        <p:blipFill>
          <a:blip r:embed="rId3"/>
          <a:stretch>
            <a:fillRect/>
          </a:stretch>
        </p:blipFill>
        <p:spPr>
          <a:xfrm>
            <a:off x="685800" y="1234440"/>
            <a:ext cx="7772400" cy="498348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latin typeface="Trebuchet MS"/>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